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12192000"/>
  <p:notesSz cx="6858000" cy="9144000"/>
  <p:embeddedFontLst>
    <p:embeddedFont>
      <p:font typeface="Playfair Display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0B674F0-2863-4C35-AEA3-A20ED85D3B92}">
  <a:tblStyle styleId="{30B674F0-2863-4C35-AEA3-A20ED85D3B9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fairDisplay-boldItalic.fntdata"/><Relationship Id="rId11" Type="http://schemas.openxmlformats.org/officeDocument/2006/relationships/slide" Target="slides/slide5.xml"/><Relationship Id="rId22" Type="http://schemas.openxmlformats.org/officeDocument/2006/relationships/font" Target="fonts/Urbanist-bold.fntdata"/><Relationship Id="rId10" Type="http://schemas.openxmlformats.org/officeDocument/2006/relationships/slide" Target="slides/slide4.xml"/><Relationship Id="rId21" Type="http://schemas.openxmlformats.org/officeDocument/2006/relationships/font" Target="fonts/Urbanist-regular.fntdata"/><Relationship Id="rId13" Type="http://schemas.openxmlformats.org/officeDocument/2006/relationships/slide" Target="slides/slide7.xml"/><Relationship Id="rId24" Type="http://schemas.openxmlformats.org/officeDocument/2006/relationships/font" Target="fonts/Urbanist-boldItalic.fntdata"/><Relationship Id="rId12" Type="http://schemas.openxmlformats.org/officeDocument/2006/relationships/slide" Target="slides/slide6.xml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fairDisplay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PlayfairDispl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layfairDisplay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7875" y="571500"/>
            <a:ext cx="80962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4885134"/>
            <a:ext cx="11201400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Predictive Modeling of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F172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Building Energy Efficiency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651182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Robert Gravatt | DATA 201 | April 30, 2026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47875" y="571500"/>
            <a:ext cx="8096250" cy="361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828180"/>
            <a:ext cx="5048250" cy="2552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 &amp; 2. Project Scope &amp; Strategy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62000" y="3075830"/>
            <a:ext cx="53006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Bridging Design &amp; Science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357113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Sustainable architecture requires the ability to predict thermal behavior before construction. We leverage the UCI Energy Efficiency dataset to bridge architectural geometry with energy demand.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490463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Key Target Variable: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Heating Load (kWh/m²)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667500" y="3342530"/>
            <a:ext cx="4476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Goal: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Determine if architectural parameters like height, surface area, and compactness can reliably forecast energy efficiency requirements.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Dataset: Variable Overview</a:t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15"/>
          <p:cNvGraphicFramePr/>
          <p:nvPr/>
        </p:nvGraphicFramePr>
        <p:xfrm>
          <a:off x="762000" y="237574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{30B674F0-2863-4C35-AEA3-A20ED85D3B92}</a:tableStyleId>
              </a:tblPr>
              <a:tblGrid>
                <a:gridCol w="2076600"/>
                <a:gridCol w="3189225"/>
                <a:gridCol w="5402175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Feature Group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Specific 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Geometric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Relative Compactness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Measure of building shape efficiency.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Envelope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Surface Area / Roof Area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Total structural exposure measurements (m²).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Massing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Overall Height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Binary split: 3.5m vs 7.0m structures.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Environmental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Orientation / Glazing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Building direction and window distribution.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</a:tr>
              <a:tr h="5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Target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Heating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Energy required for heating (kWh/m²).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" name="Google Shape;109;p15"/>
          <p:cNvSpPr/>
          <p:nvPr/>
        </p:nvSpPr>
        <p:spPr>
          <a:xfrm>
            <a:off x="762000" y="2994868"/>
            <a:ext cx="2076598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2838598" y="2994868"/>
            <a:ext cx="3189237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6027836" y="2994868"/>
            <a:ext cx="5402163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762000" y="3571130"/>
            <a:ext cx="2076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838598" y="3571130"/>
            <a:ext cx="318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027836" y="3571130"/>
            <a:ext cx="5402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762000" y="4133105"/>
            <a:ext cx="2076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2838598" y="4133105"/>
            <a:ext cx="318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6027836" y="4133105"/>
            <a:ext cx="5402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62000" y="4695080"/>
            <a:ext cx="2076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2838598" y="4695080"/>
            <a:ext cx="318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027836" y="4695080"/>
            <a:ext cx="5402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62000" y="5257055"/>
            <a:ext cx="2076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2838598" y="5257055"/>
            <a:ext cx="318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6027836" y="5257055"/>
            <a:ext cx="5402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762000" y="5819030"/>
            <a:ext cx="20765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2838598" y="5819030"/>
            <a:ext cx="3189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027836" y="5819030"/>
            <a:ext cx="540216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Methodology: Data Cleaning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1190625" y="3132980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Relabeling: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Transformed generic "X1-Y2" indices into descriptive architectural features for interpretability.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1190625" y="3656855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CSV Cleanup: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Addressed trailing delimiters and ghost columns from spreadsheet exports to ensure matrix alignment.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90625" y="4180730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Validation: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Verified 768 complete observations with zero missing values via df.info() check.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90625" y="4704605"/>
            <a:ext cx="10239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Splitting: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Identified "Overall Height" as the primary binary predictor for bimodal performance analysis.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13298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365685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18073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70460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 title="Screenshot 2026-04-29 at 11.30.18 AM.png"/>
          <p:cNvPicPr preferRelativeResize="0"/>
          <p:nvPr/>
        </p:nvPicPr>
        <p:blipFill rotWithShape="1">
          <a:blip r:embed="rId4">
            <a:alphaModFix/>
          </a:blip>
          <a:srcRect b="0" l="10273" r="10273" t="0"/>
          <a:stretch/>
        </p:blipFill>
        <p:spPr>
          <a:xfrm>
            <a:off x="6381750" y="2104280"/>
            <a:ext cx="5048250" cy="400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4a. Heating Load Distribution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762000" y="3094880"/>
            <a:ext cx="53006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Bimodal Clusters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3590180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histogram reveals two distinct performance clusters. This suggests a primary design factor creates a "split" in thermal behavior.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1104900" y="463793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143000" y="463793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Efficient Designs: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10–15 kWh/m²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1104900" y="492368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143000" y="4923680"/>
            <a:ext cx="4667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High-Demand Designs: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25–35 kWh/m²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title="Screenshot 2026-04-29 at 11.31.00 AM.png"/>
          <p:cNvPicPr preferRelativeResize="0"/>
          <p:nvPr/>
        </p:nvPicPr>
        <p:blipFill rotWithShape="1">
          <a:blip r:embed="rId4">
            <a:alphaModFix/>
          </a:blip>
          <a:srcRect b="0" l="11065" r="11065" t="0"/>
          <a:stretch/>
        </p:blipFill>
        <p:spPr>
          <a:xfrm>
            <a:off x="762000" y="2104280"/>
            <a:ext cx="5048251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Height: The Primary Driver</a:t>
            </a: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381750" y="3218705"/>
            <a:ext cx="53006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Height vs. Compactness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371400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By color-coding the scatter plot by Height, we observe that vertical massing is the primary determinant of demand.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447600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Regardless of compactness, 7.0m buildings consistently require more energy than 3.5m structures.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Numerical Evidence: Correlation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3094880"/>
            <a:ext cx="530066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Feature Importance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762000" y="3590180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 correlation matrix quantifies the physical drivers of energy efficiency: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435218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0.89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Overall Height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463793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72"/>
                </a:solidFill>
                <a:latin typeface="Urbanist"/>
                <a:ea typeface="Urbanist"/>
                <a:cs typeface="Urbanist"/>
                <a:sym typeface="Urbanist"/>
              </a:rPr>
              <a:t>0.62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Relative Compactness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762000" y="492368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0.00 correlation: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 Orientation (Negligible)</a:t>
            </a:r>
            <a:endParaRPr/>
          </a:p>
        </p:txBody>
      </p:sp>
      <p:pic>
        <p:nvPicPr>
          <p:cNvPr id="178" name="Google Shape;178;p19" title="Screenshot 2026-04-29 at 12.11.4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5062" y="1741735"/>
            <a:ext cx="5471695" cy="49638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494805"/>
            <a:ext cx="33654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3200" y="2494805"/>
            <a:ext cx="3365450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494805"/>
            <a:ext cx="3365599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Modeling: Baseline vs. Improved</a:t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7750" y="281865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1047750" y="3599705"/>
            <a:ext cx="293364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Baseline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1047750" y="4095005"/>
            <a:ext cx="27939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Multiple Linear Regression assuming additive effects. Achieved 91% starting accuracy.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8950" y="281865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4698950" y="3599705"/>
            <a:ext cx="293364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Reasoning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4698950" y="4095005"/>
            <a:ext cx="27939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Thermal physics is non-linear. Interactions (e.g., Height x Surface Area) better reflect structural reality.</a:t>
            </a:r>
            <a:endParaRPr/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0150" y="2818655"/>
            <a:ext cx="3048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8350150" y="3599705"/>
            <a:ext cx="293380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Improved Model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350150" y="4095005"/>
            <a:ext cx="279409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Polynomial Features (Degree 2) captured non-linear interactions, raising accuracy to 99%.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922710"/>
            <a:ext cx="10668000" cy="436378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4b-e. Performance Benchmark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4580780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By introducing interaction terms, we reduced prediction error (RMSE) from 3.02 to 0.80 kWh/m².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762000" y="903535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D7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4g. Final Predictive Validation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762000" y="1579810"/>
            <a:ext cx="10668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 txBox="1"/>
          <p:nvPr/>
        </p:nvSpPr>
        <p:spPr>
          <a:xfrm>
            <a:off x="762000" y="2794843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Urbanist"/>
                <a:ea typeface="Urbanist"/>
                <a:cs typeface="Urbanist"/>
                <a:sym typeface="Urbanist"/>
              </a:rPr>
              <a:t>Testing the model on three unique design scenarios from the test set:</a:t>
            </a:r>
            <a:endParaRPr/>
          </a:p>
        </p:txBody>
      </p:sp>
      <p:graphicFrame>
        <p:nvGraphicFramePr>
          <p:cNvPr id="215" name="Google Shape;215;p22"/>
          <p:cNvGraphicFramePr/>
          <p:nvPr/>
        </p:nvGraphicFramePr>
        <p:xfrm>
          <a:off x="762000" y="327109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{30B674F0-2863-4C35-AEA3-A20ED85D3B92}</a:tableStyleId>
              </a:tblPr>
              <a:tblGrid>
                <a:gridCol w="3003800"/>
                <a:gridCol w="2565500"/>
                <a:gridCol w="2776525"/>
                <a:gridCol w="2322175"/>
              </a:tblGrid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Design Sample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Actual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Predicted Load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Model Error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Building Design 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16.47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16.56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Building Design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13.17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13.32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DFE"/>
                    </a:solidFill>
                  </a:tcPr>
                </a:tc>
              </a:tr>
              <a:tr h="58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Building Design 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32.82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475569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32.79 kWh/m²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0B98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0.03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6" name="Google Shape;216;p22"/>
          <p:cNvSpPr/>
          <p:nvPr/>
        </p:nvSpPr>
        <p:spPr>
          <a:xfrm>
            <a:off x="762000" y="3890218"/>
            <a:ext cx="3003798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765798" y="3890218"/>
            <a:ext cx="2565499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6331297" y="3890218"/>
            <a:ext cx="2776537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9107834" y="3890218"/>
            <a:ext cx="2322165" cy="19050"/>
          </a:xfrm>
          <a:prstGeom prst="rect">
            <a:avLst/>
          </a:prstGeom>
          <a:solidFill>
            <a:srgbClr val="002D7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62000" y="4466480"/>
            <a:ext cx="3003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765798" y="4466480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/>
          <p:nvPr/>
        </p:nvSpPr>
        <p:spPr>
          <a:xfrm>
            <a:off x="6331297" y="4466480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2"/>
          <p:cNvSpPr/>
          <p:nvPr/>
        </p:nvSpPr>
        <p:spPr>
          <a:xfrm>
            <a:off x="9107834" y="4466480"/>
            <a:ext cx="2322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762000" y="5028455"/>
            <a:ext cx="3003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3765798" y="5028455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6331297" y="5028455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9107834" y="5028455"/>
            <a:ext cx="2322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762000" y="5590430"/>
            <a:ext cx="30037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3765798" y="5590430"/>
            <a:ext cx="256549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6331297" y="5590430"/>
            <a:ext cx="27765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9107834" y="5590430"/>
            <a:ext cx="232216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